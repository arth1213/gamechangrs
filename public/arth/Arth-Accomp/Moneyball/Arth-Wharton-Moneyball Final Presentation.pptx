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ton" charset="1" panose="00000500000000000000"/>
      <p:regular r:id="rId24"/>
    </p:embeddedFont>
    <p:embeddedFont>
      <p:font typeface=" Avenir Next Arabic" charset="1" panose="020B0503020202020204"/>
      <p:regular r:id="rId25"/>
    </p:embeddedFont>
    <p:embeddedFont>
      <p:font typeface=" Avenir Next Arabic Bold" charset="1" panose="020B0803020202020204"/>
      <p:regular r:id="rId26"/>
    </p:embeddedFont>
    <p:embeddedFont>
      <p:font typeface="Canva Sans Bold" charset="1" panose="020B0803030501040103"/>
      <p:regular r:id="rId27"/>
    </p:embeddedFont>
    <p:embeddedFont>
      <p:font typeface="Canva Sans" charset="1" panose="020B0503030501040103"/>
      <p:regular r:id="rId28"/>
    </p:embeddedFont>
    <p:embeddedFont>
      <p:font typeface="Abril Fatface" charset="1" panose="02000503000000020003"/>
      <p:regular r:id="rId29"/>
    </p:embeddedFont>
    <p:embeddedFont>
      <p:font typeface="Lilita One" charset="1" panose="02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VAHQnMj0I4o.mp4" Type="http://schemas.openxmlformats.org/officeDocument/2006/relationships/video"/><Relationship Id="rId6" Target="../media/VAHQnMj0I4o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28575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0042" y="349542"/>
            <a:ext cx="9587917" cy="9587917"/>
          </a:xfrm>
          <a:custGeom>
            <a:avLst/>
            <a:gdLst/>
            <a:ahLst/>
            <a:cxnLst/>
            <a:rect r="r" b="b" t="t" l="l"/>
            <a:pathLst>
              <a:path h="9587917" w="9587917">
                <a:moveTo>
                  <a:pt x="0" y="0"/>
                </a:moveTo>
                <a:lnTo>
                  <a:pt x="9587916" y="0"/>
                </a:lnTo>
                <a:lnTo>
                  <a:pt x="9587916" y="9587916"/>
                </a:lnTo>
                <a:lnTo>
                  <a:pt x="0" y="9587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5743" y="0"/>
            <a:ext cx="18362793" cy="10287000"/>
          </a:xfrm>
          <a:custGeom>
            <a:avLst/>
            <a:gdLst/>
            <a:ahLst/>
            <a:cxnLst/>
            <a:rect r="r" b="b" t="t" l="l"/>
            <a:pathLst>
              <a:path h="10287000" w="18362793">
                <a:moveTo>
                  <a:pt x="0" y="0"/>
                </a:moveTo>
                <a:lnTo>
                  <a:pt x="18362793" y="0"/>
                </a:lnTo>
                <a:lnTo>
                  <a:pt x="1836279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325" t="-13389" r="-432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46975" y="1992310"/>
            <a:ext cx="14319257" cy="347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WHAT DRIVES NBA OFFENSE MORE?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2403" y="5685668"/>
            <a:ext cx="5664397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 spc="927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SHOT CREATION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94049" y="8373772"/>
            <a:ext cx="12336521" cy="118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6"/>
              </a:lnSpc>
            </a:pPr>
            <a:r>
              <a:rPr lang="en-US" b="true" sz="3200" spc="742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BY ARTH ARUN, STEPHEN GAO, BRANDON HSI, JOSHUA EDWARDS,WESLEY LEE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71520" y="5685667"/>
            <a:ext cx="5318100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9"/>
              </a:lnSpc>
            </a:pPr>
            <a:r>
              <a:rPr lang="en-US" sz="3999" spc="927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SHOT MAKING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33588" y="5806884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64621" y="-753127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9010" y="5143500"/>
            <a:ext cx="8011648" cy="4493929"/>
          </a:xfrm>
          <a:custGeom>
            <a:avLst/>
            <a:gdLst/>
            <a:ahLst/>
            <a:cxnLst/>
            <a:rect r="r" b="b" t="t" l="l"/>
            <a:pathLst>
              <a:path h="4493929" w="8011648">
                <a:moveTo>
                  <a:pt x="0" y="0"/>
                </a:moveTo>
                <a:lnTo>
                  <a:pt x="8011648" y="0"/>
                </a:lnTo>
                <a:lnTo>
                  <a:pt x="8011648" y="4493929"/>
                </a:lnTo>
                <a:lnTo>
                  <a:pt x="0" y="4493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6659" y="934954"/>
            <a:ext cx="5457800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7"/>
              </a:lnSpc>
            </a:pPr>
            <a:r>
              <a:rPr lang="en-US" sz="9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HYPOTHESIS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934954"/>
            <a:ext cx="8225064" cy="1390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847"/>
              </a:lnSpc>
            </a:pPr>
            <a:r>
              <a:rPr lang="en-US" sz="96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BACKGROUND INFO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3250" y="2560624"/>
            <a:ext cx="8184617" cy="206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3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Shot Creation has a greater association on offensive rating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34236" y="2507986"/>
            <a:ext cx="8785589" cy="758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684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NBA Seasons 2015-2025 (330 Teams)</a:t>
            </a:r>
          </a:p>
          <a:p>
            <a:pPr algn="l" marL="690881" indent="-345440" lvl="1">
              <a:lnSpc>
                <a:spcPts val="684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Success measure: Offensive Rating</a:t>
            </a:r>
          </a:p>
          <a:p>
            <a:pPr algn="l" marL="690881" indent="-345440" lvl="1">
              <a:lnSpc>
                <a:spcPts val="684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Independent Variables: Shot Creation and Shot Making</a:t>
            </a:r>
          </a:p>
          <a:p>
            <a:pPr algn="l" marL="690881" indent="-345440" lvl="1">
              <a:lnSpc>
                <a:spcPts val="684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Shot Creation: Opportunity before the ball is released</a:t>
            </a:r>
          </a:p>
          <a:p>
            <a:pPr algn="l" marL="690881" indent="-345440" lvl="1">
              <a:lnSpc>
                <a:spcPts val="6848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Shot Making: Opportunity after the ball is released</a:t>
            </a:r>
          </a:p>
          <a:p>
            <a:pPr algn="l">
              <a:lnSpc>
                <a:spcPts val="48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56038" y="538794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7433" y="381370"/>
            <a:ext cx="11713134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0"/>
              </a:lnSpc>
            </a:pPr>
            <a:r>
              <a:rPr lang="en-US" sz="9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NBA DATA TO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287433" y="2301845"/>
            <a:ext cx="3587416" cy="3086100"/>
            <a:chOff x="0" y="0"/>
            <a:chExt cx="944834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4834" cy="812800"/>
            </a:xfrm>
            <a:custGeom>
              <a:avLst/>
              <a:gdLst/>
              <a:ahLst/>
              <a:cxnLst/>
              <a:rect r="r" b="b" t="t" l="l"/>
              <a:pathLst>
                <a:path h="812800" w="944834">
                  <a:moveTo>
                    <a:pt x="36687" y="0"/>
                  </a:moveTo>
                  <a:lnTo>
                    <a:pt x="908147" y="0"/>
                  </a:lnTo>
                  <a:cubicBezTo>
                    <a:pt x="928408" y="0"/>
                    <a:pt x="944834" y="16425"/>
                    <a:pt x="944834" y="36687"/>
                  </a:cubicBezTo>
                  <a:lnTo>
                    <a:pt x="944834" y="776113"/>
                  </a:lnTo>
                  <a:cubicBezTo>
                    <a:pt x="944834" y="785843"/>
                    <a:pt x="940969" y="795174"/>
                    <a:pt x="934088" y="802055"/>
                  </a:cubicBezTo>
                  <a:cubicBezTo>
                    <a:pt x="927208" y="808935"/>
                    <a:pt x="917877" y="812800"/>
                    <a:pt x="908147" y="812800"/>
                  </a:cubicBezTo>
                  <a:lnTo>
                    <a:pt x="36687" y="812800"/>
                  </a:lnTo>
                  <a:cubicBezTo>
                    <a:pt x="26957" y="812800"/>
                    <a:pt x="17626" y="808935"/>
                    <a:pt x="10745" y="802055"/>
                  </a:cubicBezTo>
                  <a:cubicBezTo>
                    <a:pt x="3865" y="795174"/>
                    <a:pt x="0" y="785843"/>
                    <a:pt x="0" y="776113"/>
                  </a:cubicBezTo>
                  <a:lnTo>
                    <a:pt x="0" y="36687"/>
                  </a:lnTo>
                  <a:cubicBezTo>
                    <a:pt x="0" y="26957"/>
                    <a:pt x="3865" y="17626"/>
                    <a:pt x="10745" y="10745"/>
                  </a:cubicBezTo>
                  <a:cubicBezTo>
                    <a:pt x="17626" y="3865"/>
                    <a:pt x="26957" y="0"/>
                    <a:pt x="36687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19075"/>
              <a:ext cx="944834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  <a:r>
                <a:rPr lang="en-US" b="true" sz="2453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1) COLLECT</a:t>
              </a:r>
            </a:p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NBA StatsAPI &amp; Shot Maps</a:t>
              </a:r>
            </a:p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(2015-2025)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90291" y="2236871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770153"/>
                  </a:lnTo>
                  <a:cubicBezTo>
                    <a:pt x="812800" y="781464"/>
                    <a:pt x="808307" y="792311"/>
                    <a:pt x="800309" y="800309"/>
                  </a:cubicBezTo>
                  <a:cubicBezTo>
                    <a:pt x="792311" y="808307"/>
                    <a:pt x="781464" y="812800"/>
                    <a:pt x="770153" y="812800"/>
                  </a:cubicBezTo>
                  <a:lnTo>
                    <a:pt x="42647" y="812800"/>
                  </a:lnTo>
                  <a:cubicBezTo>
                    <a:pt x="31336" y="812800"/>
                    <a:pt x="20489" y="808307"/>
                    <a:pt x="12491" y="800309"/>
                  </a:cubicBezTo>
                  <a:cubicBezTo>
                    <a:pt x="4493" y="792311"/>
                    <a:pt x="0" y="781464"/>
                    <a:pt x="0" y="770153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19075"/>
              <a:ext cx="812800" cy="103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  <a:r>
                <a:rPr lang="en-US" b="true" sz="2453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2) ORGANIZE</a:t>
              </a:r>
            </a:p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One big Dataset with one row per Team Season(330)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17442" y="6514433"/>
            <a:ext cx="3587918" cy="3043955"/>
            <a:chOff x="0" y="0"/>
            <a:chExt cx="944966" cy="801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4966" cy="801700"/>
            </a:xfrm>
            <a:custGeom>
              <a:avLst/>
              <a:gdLst/>
              <a:ahLst/>
              <a:cxnLst/>
              <a:rect r="r" b="b" t="t" l="l"/>
              <a:pathLst>
                <a:path h="801700" w="944966">
                  <a:moveTo>
                    <a:pt x="36682" y="0"/>
                  </a:moveTo>
                  <a:lnTo>
                    <a:pt x="908284" y="0"/>
                  </a:lnTo>
                  <a:cubicBezTo>
                    <a:pt x="918013" y="0"/>
                    <a:pt x="927343" y="3865"/>
                    <a:pt x="934222" y="10744"/>
                  </a:cubicBezTo>
                  <a:cubicBezTo>
                    <a:pt x="941101" y="17623"/>
                    <a:pt x="944966" y="26953"/>
                    <a:pt x="944966" y="36682"/>
                  </a:cubicBezTo>
                  <a:lnTo>
                    <a:pt x="944966" y="765018"/>
                  </a:lnTo>
                  <a:cubicBezTo>
                    <a:pt x="944966" y="785277"/>
                    <a:pt x="928543" y="801700"/>
                    <a:pt x="908284" y="801700"/>
                  </a:cubicBezTo>
                  <a:lnTo>
                    <a:pt x="36682" y="801700"/>
                  </a:lnTo>
                  <a:cubicBezTo>
                    <a:pt x="26953" y="801700"/>
                    <a:pt x="17623" y="797835"/>
                    <a:pt x="10744" y="790956"/>
                  </a:cubicBezTo>
                  <a:cubicBezTo>
                    <a:pt x="3865" y="784077"/>
                    <a:pt x="0" y="774747"/>
                    <a:pt x="0" y="765018"/>
                  </a:cubicBezTo>
                  <a:lnTo>
                    <a:pt x="0" y="36682"/>
                  </a:lnTo>
                  <a:cubicBezTo>
                    <a:pt x="0" y="16423"/>
                    <a:pt x="16423" y="0"/>
                    <a:pt x="36682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19075"/>
              <a:ext cx="944966" cy="1020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  <a:r>
                <a:rPr lang="en-US" b="true" sz="2453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3) ANALYZE METRICS</a:t>
              </a:r>
            </a:p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Shot Creation, Shot Making &amp; Shooting Stats</a:t>
              </a:r>
            </a:p>
            <a:p>
              <a:pPr algn="ctr">
                <a:lnSpc>
                  <a:spcPts val="525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38091" y="6372726"/>
            <a:ext cx="3086100" cy="3327367"/>
            <a:chOff x="0" y="0"/>
            <a:chExt cx="812800" cy="876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76344"/>
            </a:xfrm>
            <a:custGeom>
              <a:avLst/>
              <a:gdLst/>
              <a:ahLst/>
              <a:cxnLst/>
              <a:rect r="r" b="b" t="t" l="l"/>
              <a:pathLst>
                <a:path h="876344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833697"/>
                  </a:lnTo>
                  <a:cubicBezTo>
                    <a:pt x="812800" y="845007"/>
                    <a:pt x="808307" y="855855"/>
                    <a:pt x="800309" y="863853"/>
                  </a:cubicBezTo>
                  <a:cubicBezTo>
                    <a:pt x="792311" y="871851"/>
                    <a:pt x="781464" y="876344"/>
                    <a:pt x="770153" y="876344"/>
                  </a:cubicBezTo>
                  <a:lnTo>
                    <a:pt x="42647" y="876344"/>
                  </a:lnTo>
                  <a:cubicBezTo>
                    <a:pt x="19094" y="876344"/>
                    <a:pt x="0" y="857250"/>
                    <a:pt x="0" y="833697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19075"/>
              <a:ext cx="812800" cy="1095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  <a:r>
                <a:rPr lang="en-US" sz="2453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4) TEST</a:t>
              </a:r>
            </a:p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Predict O-Rating</a:t>
              </a:r>
            </a:p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using two Linear Regression Models(OLS)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56155" y="2301845"/>
            <a:ext cx="2375689" cy="1578029"/>
            <a:chOff x="0" y="0"/>
            <a:chExt cx="786748" cy="5225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6748" cy="522590"/>
            </a:xfrm>
            <a:custGeom>
              <a:avLst/>
              <a:gdLst/>
              <a:ahLst/>
              <a:cxnLst/>
              <a:rect r="r" b="b" t="t" l="l"/>
              <a:pathLst>
                <a:path h="522590" w="786748">
                  <a:moveTo>
                    <a:pt x="786748" y="261295"/>
                  </a:moveTo>
                  <a:lnTo>
                    <a:pt x="380348" y="0"/>
                  </a:lnTo>
                  <a:lnTo>
                    <a:pt x="380348" y="203200"/>
                  </a:lnTo>
                  <a:lnTo>
                    <a:pt x="0" y="203200"/>
                  </a:lnTo>
                  <a:lnTo>
                    <a:pt x="0" y="319390"/>
                  </a:lnTo>
                  <a:lnTo>
                    <a:pt x="380348" y="319390"/>
                  </a:lnTo>
                  <a:lnTo>
                    <a:pt x="380348" y="522590"/>
                  </a:lnTo>
                  <a:lnTo>
                    <a:pt x="786748" y="261295"/>
                  </a:lnTo>
                  <a:close/>
                </a:path>
              </a:pathLst>
            </a:custGeom>
            <a:solidFill>
              <a:srgbClr val="9F9F9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5875"/>
              <a:ext cx="685148" cy="335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7671752" y="7680271"/>
            <a:ext cx="2375689" cy="1578029"/>
            <a:chOff x="0" y="0"/>
            <a:chExt cx="786748" cy="5225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6748" cy="522590"/>
            </a:xfrm>
            <a:custGeom>
              <a:avLst/>
              <a:gdLst/>
              <a:ahLst/>
              <a:cxnLst/>
              <a:rect r="r" b="b" t="t" l="l"/>
              <a:pathLst>
                <a:path h="522590" w="786748">
                  <a:moveTo>
                    <a:pt x="786748" y="261295"/>
                  </a:moveTo>
                  <a:lnTo>
                    <a:pt x="380348" y="0"/>
                  </a:lnTo>
                  <a:lnTo>
                    <a:pt x="380348" y="203200"/>
                  </a:lnTo>
                  <a:lnTo>
                    <a:pt x="0" y="203200"/>
                  </a:lnTo>
                  <a:lnTo>
                    <a:pt x="0" y="319390"/>
                  </a:lnTo>
                  <a:lnTo>
                    <a:pt x="380348" y="319390"/>
                  </a:lnTo>
                  <a:lnTo>
                    <a:pt x="380348" y="522590"/>
                  </a:lnTo>
                  <a:lnTo>
                    <a:pt x="786748" y="261295"/>
                  </a:lnTo>
                  <a:close/>
                </a:path>
              </a:pathLst>
            </a:custGeom>
            <a:solidFill>
              <a:srgbClr val="9F9F9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5875"/>
              <a:ext cx="685148" cy="335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5400000">
            <a:off x="15106298" y="4967766"/>
            <a:ext cx="2375689" cy="1578029"/>
            <a:chOff x="0" y="0"/>
            <a:chExt cx="786748" cy="5225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6748" cy="522590"/>
            </a:xfrm>
            <a:custGeom>
              <a:avLst/>
              <a:gdLst/>
              <a:ahLst/>
              <a:cxnLst/>
              <a:rect r="r" b="b" t="t" l="l"/>
              <a:pathLst>
                <a:path h="522590" w="786748">
                  <a:moveTo>
                    <a:pt x="786748" y="261295"/>
                  </a:moveTo>
                  <a:lnTo>
                    <a:pt x="380348" y="0"/>
                  </a:lnTo>
                  <a:lnTo>
                    <a:pt x="380348" y="203200"/>
                  </a:lnTo>
                  <a:lnTo>
                    <a:pt x="0" y="203200"/>
                  </a:lnTo>
                  <a:lnTo>
                    <a:pt x="0" y="319390"/>
                  </a:lnTo>
                  <a:lnTo>
                    <a:pt x="380348" y="319390"/>
                  </a:lnTo>
                  <a:lnTo>
                    <a:pt x="380348" y="522590"/>
                  </a:lnTo>
                  <a:lnTo>
                    <a:pt x="786748" y="261295"/>
                  </a:lnTo>
                  <a:close/>
                </a:path>
              </a:pathLst>
            </a:custGeom>
            <a:solidFill>
              <a:srgbClr val="9F9F9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5875"/>
              <a:ext cx="685148" cy="335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629870" y="4967766"/>
            <a:ext cx="2375689" cy="1578029"/>
            <a:chOff x="0" y="0"/>
            <a:chExt cx="786748" cy="5225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86748" cy="522590"/>
            </a:xfrm>
            <a:custGeom>
              <a:avLst/>
              <a:gdLst/>
              <a:ahLst/>
              <a:cxnLst/>
              <a:rect r="r" b="b" t="t" l="l"/>
              <a:pathLst>
                <a:path h="522590" w="786748">
                  <a:moveTo>
                    <a:pt x="786748" y="261295"/>
                  </a:moveTo>
                  <a:lnTo>
                    <a:pt x="380348" y="0"/>
                  </a:lnTo>
                  <a:lnTo>
                    <a:pt x="380348" y="203200"/>
                  </a:lnTo>
                  <a:lnTo>
                    <a:pt x="0" y="203200"/>
                  </a:lnTo>
                  <a:lnTo>
                    <a:pt x="0" y="319390"/>
                  </a:lnTo>
                  <a:lnTo>
                    <a:pt x="380348" y="319390"/>
                  </a:lnTo>
                  <a:lnTo>
                    <a:pt x="380348" y="522590"/>
                  </a:lnTo>
                  <a:lnTo>
                    <a:pt x="786748" y="261295"/>
                  </a:lnTo>
                  <a:close/>
                </a:path>
              </a:pathLst>
            </a:custGeom>
            <a:solidFill>
              <a:srgbClr val="9F9F9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5875"/>
              <a:ext cx="685148" cy="335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8004008" y="4664641"/>
            <a:ext cx="2279984" cy="2279984"/>
          </a:xfrm>
          <a:custGeom>
            <a:avLst/>
            <a:gdLst/>
            <a:ahLst/>
            <a:cxnLst/>
            <a:rect r="r" b="b" t="t" l="l"/>
            <a:pathLst>
              <a:path h="2279984" w="2279984">
                <a:moveTo>
                  <a:pt x="0" y="0"/>
                </a:moveTo>
                <a:lnTo>
                  <a:pt x="2279984" y="0"/>
                </a:lnTo>
                <a:lnTo>
                  <a:pt x="2279984" y="2279984"/>
                </a:lnTo>
                <a:lnTo>
                  <a:pt x="0" y="2279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17121" y="4900273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2772" y="812644"/>
            <a:ext cx="4514651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sz="6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SHOT CREATION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737" y="2239889"/>
            <a:ext cx="7330196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What quality of opportunities did the offense produce?(Before)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44487" y="4528061"/>
            <a:ext cx="4609537" cy="125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9775" indent="-264888" lvl="1">
              <a:lnSpc>
                <a:spcPts val="5251"/>
              </a:lnSpc>
              <a:buFont typeface="Arial"/>
              <a:buChar char="•"/>
            </a:pPr>
          </a:p>
          <a:p>
            <a:pPr algn="l">
              <a:lnSpc>
                <a:spcPts val="525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702150" y="-2311810"/>
            <a:ext cx="8115300" cy="8115300"/>
          </a:xfrm>
          <a:custGeom>
            <a:avLst/>
            <a:gdLst/>
            <a:ahLst/>
            <a:cxnLst/>
            <a:rect r="r" b="b" t="t" l="l"/>
            <a:pathLst>
              <a:path h="8115300" w="8115300">
                <a:moveTo>
                  <a:pt x="0" y="0"/>
                </a:moveTo>
                <a:lnTo>
                  <a:pt x="8115300" y="0"/>
                </a:lnTo>
                <a:lnTo>
                  <a:pt x="8115300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74170" y="4747136"/>
            <a:ext cx="2848535" cy="2312940"/>
            <a:chOff x="0" y="0"/>
            <a:chExt cx="750231" cy="6091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0231" cy="609170"/>
            </a:xfrm>
            <a:custGeom>
              <a:avLst/>
              <a:gdLst/>
              <a:ahLst/>
              <a:cxnLst/>
              <a:rect r="r" b="b" t="t" l="l"/>
              <a:pathLst>
                <a:path h="609170" w="750231">
                  <a:moveTo>
                    <a:pt x="750231" y="304585"/>
                  </a:moveTo>
                  <a:lnTo>
                    <a:pt x="343831" y="0"/>
                  </a:lnTo>
                  <a:lnTo>
                    <a:pt x="343831" y="203200"/>
                  </a:lnTo>
                  <a:lnTo>
                    <a:pt x="0" y="203200"/>
                  </a:lnTo>
                  <a:lnTo>
                    <a:pt x="0" y="405969"/>
                  </a:lnTo>
                  <a:lnTo>
                    <a:pt x="343831" y="405969"/>
                  </a:lnTo>
                  <a:lnTo>
                    <a:pt x="343831" y="609170"/>
                  </a:lnTo>
                  <a:lnTo>
                    <a:pt x="750231" y="304585"/>
                  </a:lnTo>
                  <a:close/>
                </a:path>
              </a:pathLst>
            </a:custGeom>
            <a:solidFill>
              <a:srgbClr val="9F9F9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5875"/>
              <a:ext cx="648631" cy="421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251"/>
                </a:lnSpc>
              </a:pPr>
              <a:r>
                <a:rPr lang="en-US" sz="2453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ASSOCIATION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815258" y="3304953"/>
            <a:ext cx="6975712" cy="4666751"/>
          </a:xfrm>
          <a:custGeom>
            <a:avLst/>
            <a:gdLst/>
            <a:ahLst/>
            <a:cxnLst/>
            <a:rect r="r" b="b" t="t" l="l"/>
            <a:pathLst>
              <a:path h="4666751" w="6975712">
                <a:moveTo>
                  <a:pt x="0" y="0"/>
                </a:moveTo>
                <a:lnTo>
                  <a:pt x="6975712" y="0"/>
                </a:lnTo>
                <a:lnTo>
                  <a:pt x="6975712" y="4666751"/>
                </a:lnTo>
                <a:lnTo>
                  <a:pt x="0" y="46667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5737" y="3505479"/>
            <a:ext cx="6515879" cy="4596022"/>
          </a:xfrm>
          <a:custGeom>
            <a:avLst/>
            <a:gdLst/>
            <a:ahLst/>
            <a:cxnLst/>
            <a:rect r="r" b="b" t="t" l="l"/>
            <a:pathLst>
              <a:path h="4596022" w="6515879">
                <a:moveTo>
                  <a:pt x="0" y="0"/>
                </a:moveTo>
                <a:lnTo>
                  <a:pt x="6515879" y="0"/>
                </a:lnTo>
                <a:lnTo>
                  <a:pt x="6515879" y="4596022"/>
                </a:lnTo>
                <a:lnTo>
                  <a:pt x="0" y="45960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263581" y="812644"/>
            <a:ext cx="4172729" cy="93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1"/>
              </a:lnSpc>
            </a:pPr>
            <a:r>
              <a:rPr lang="en-US" sz="63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SHOT MAKING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60774" y="2239889"/>
            <a:ext cx="7330196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How well did the team convert its opportunities?(After)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5565" y="538794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46335" y="335782"/>
            <a:ext cx="14195330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0"/>
              </a:lnSpc>
            </a:pPr>
            <a:r>
              <a:rPr lang="en-US" sz="9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SHOT CREATION CONSTRUCTION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124399" y="2396163"/>
            <a:ext cx="14039203" cy="1496441"/>
            <a:chOff x="0" y="0"/>
            <a:chExt cx="3697568" cy="394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97568" cy="394124"/>
            </a:xfrm>
            <a:custGeom>
              <a:avLst/>
              <a:gdLst/>
              <a:ahLst/>
              <a:cxnLst/>
              <a:rect r="r" b="b" t="t" l="l"/>
              <a:pathLst>
                <a:path h="394124" w="3697568">
                  <a:moveTo>
                    <a:pt x="28124" y="0"/>
                  </a:moveTo>
                  <a:lnTo>
                    <a:pt x="3669444" y="0"/>
                  </a:lnTo>
                  <a:cubicBezTo>
                    <a:pt x="3684976" y="0"/>
                    <a:pt x="3697568" y="12592"/>
                    <a:pt x="3697568" y="28124"/>
                  </a:cubicBezTo>
                  <a:lnTo>
                    <a:pt x="3697568" y="366000"/>
                  </a:lnTo>
                  <a:cubicBezTo>
                    <a:pt x="3697568" y="381533"/>
                    <a:pt x="3684976" y="394124"/>
                    <a:pt x="3669444" y="394124"/>
                  </a:cubicBezTo>
                  <a:lnTo>
                    <a:pt x="28124" y="394124"/>
                  </a:lnTo>
                  <a:cubicBezTo>
                    <a:pt x="12592" y="394124"/>
                    <a:pt x="0" y="381533"/>
                    <a:pt x="0" y="366000"/>
                  </a:cubicBezTo>
                  <a:lnTo>
                    <a:pt x="0" y="28124"/>
                  </a:lnTo>
                  <a:cubicBezTo>
                    <a:pt x="0" y="12592"/>
                    <a:pt x="12592" y="0"/>
                    <a:pt x="28124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95275"/>
              <a:ext cx="3697568" cy="689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8"/>
                </a:lnSpc>
              </a:pPr>
              <a:r>
                <a:rPr lang="en-US" b="true" sz="3200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THE EQUATION</a:t>
              </a:r>
            </a:p>
            <a:p>
              <a:pPr algn="ctr">
                <a:lnSpc>
                  <a:spcPts val="4922"/>
                </a:lnSpc>
              </a:pPr>
              <a:r>
                <a:rPr lang="en-US" sz="23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SHOT CREATION = Z(Rim Rate) + Z(Corner Three Rate) + Z(Wide Open Rate) − Z(Bad Shot Rate)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058" y="4682782"/>
            <a:ext cx="7106074" cy="4575518"/>
            <a:chOff x="0" y="0"/>
            <a:chExt cx="1871559" cy="12050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71559" cy="1205075"/>
            </a:xfrm>
            <a:custGeom>
              <a:avLst/>
              <a:gdLst/>
              <a:ahLst/>
              <a:cxnLst/>
              <a:rect r="r" b="b" t="t" l="l"/>
              <a:pathLst>
                <a:path h="1205075" w="1871559">
                  <a:moveTo>
                    <a:pt x="55563" y="0"/>
                  </a:moveTo>
                  <a:lnTo>
                    <a:pt x="1815995" y="0"/>
                  </a:lnTo>
                  <a:cubicBezTo>
                    <a:pt x="1846682" y="0"/>
                    <a:pt x="1871559" y="24877"/>
                    <a:pt x="1871559" y="55563"/>
                  </a:cubicBezTo>
                  <a:lnTo>
                    <a:pt x="1871559" y="1149511"/>
                  </a:lnTo>
                  <a:cubicBezTo>
                    <a:pt x="1871559" y="1180198"/>
                    <a:pt x="1846682" y="1205075"/>
                    <a:pt x="1815995" y="1205075"/>
                  </a:cubicBezTo>
                  <a:lnTo>
                    <a:pt x="55563" y="1205075"/>
                  </a:lnTo>
                  <a:cubicBezTo>
                    <a:pt x="24877" y="1205075"/>
                    <a:pt x="0" y="1180198"/>
                    <a:pt x="0" y="1149511"/>
                  </a:cubicBezTo>
                  <a:lnTo>
                    <a:pt x="0" y="55563"/>
                  </a:lnTo>
                  <a:cubicBezTo>
                    <a:pt x="0" y="24877"/>
                    <a:pt x="24877" y="0"/>
                    <a:pt x="55563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47650"/>
              <a:ext cx="1871559" cy="145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1"/>
                </a:lnSpc>
              </a:pPr>
              <a:r>
                <a:rPr lang="en-US" b="true" sz="2799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POSITIVE COMPONENTS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Rim Rate = Restricted-Area Attempts / Total Tracked Attempts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Corner 3 Rate = Corner Three Attempts / Total Tracked Attempts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Wide-Open Rate = Attempts with the nearest defender 6+ feet away / Total Tracked Attempts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53226" y="4682782"/>
            <a:ext cx="7106074" cy="4575518"/>
            <a:chOff x="0" y="0"/>
            <a:chExt cx="1871559" cy="12050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71559" cy="1205075"/>
            </a:xfrm>
            <a:custGeom>
              <a:avLst/>
              <a:gdLst/>
              <a:ahLst/>
              <a:cxnLst/>
              <a:rect r="r" b="b" t="t" l="l"/>
              <a:pathLst>
                <a:path h="1205075" w="1871559">
                  <a:moveTo>
                    <a:pt x="55563" y="0"/>
                  </a:moveTo>
                  <a:lnTo>
                    <a:pt x="1815995" y="0"/>
                  </a:lnTo>
                  <a:cubicBezTo>
                    <a:pt x="1846682" y="0"/>
                    <a:pt x="1871559" y="24877"/>
                    <a:pt x="1871559" y="55563"/>
                  </a:cubicBezTo>
                  <a:lnTo>
                    <a:pt x="1871559" y="1149511"/>
                  </a:lnTo>
                  <a:cubicBezTo>
                    <a:pt x="1871559" y="1180198"/>
                    <a:pt x="1846682" y="1205075"/>
                    <a:pt x="1815995" y="1205075"/>
                  </a:cubicBezTo>
                  <a:lnTo>
                    <a:pt x="55563" y="1205075"/>
                  </a:lnTo>
                  <a:cubicBezTo>
                    <a:pt x="24877" y="1205075"/>
                    <a:pt x="0" y="1180198"/>
                    <a:pt x="0" y="1149511"/>
                  </a:cubicBezTo>
                  <a:lnTo>
                    <a:pt x="0" y="55563"/>
                  </a:lnTo>
                  <a:cubicBezTo>
                    <a:pt x="0" y="24877"/>
                    <a:pt x="24877" y="0"/>
                    <a:pt x="55563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47650"/>
              <a:ext cx="1871559" cy="1452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1"/>
                </a:lnSpc>
              </a:pPr>
              <a:r>
                <a:rPr lang="en-US" b="true" sz="2799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NEGATIVE COMPONENTS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Bad Shot Rate = (Midrange Rate + Contested Rate) / 2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Midrange Rate = Midrange Attempts / Total Tracked Attempts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Contested Rate = Attempts with a Defender within 4 feet/Total Tracked Attempts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5565" y="538794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8441" y="693658"/>
            <a:ext cx="17271118" cy="163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30"/>
              </a:lnSpc>
            </a:pPr>
            <a:r>
              <a:rPr lang="en-US" sz="98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SHOT MAKING CONSTRUCTION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252265" y="-1809724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4" y="0"/>
                </a:lnTo>
                <a:lnTo>
                  <a:pt x="6782224" y="6782223"/>
                </a:lnTo>
                <a:lnTo>
                  <a:pt x="0" y="6782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27965" y="554034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391112" y="-2193189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4" y="0"/>
                </a:lnTo>
                <a:lnTo>
                  <a:pt x="6782224" y="6782223"/>
                </a:lnTo>
                <a:lnTo>
                  <a:pt x="0" y="6782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41840" y="3149681"/>
            <a:ext cx="2882671" cy="5690980"/>
            <a:chOff x="0" y="0"/>
            <a:chExt cx="759222" cy="1498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9222" cy="1498859"/>
            </a:xfrm>
            <a:custGeom>
              <a:avLst/>
              <a:gdLst/>
              <a:ahLst/>
              <a:cxnLst/>
              <a:rect r="r" b="b" t="t" l="l"/>
              <a:pathLst>
                <a:path h="1498859" w="759222">
                  <a:moveTo>
                    <a:pt x="136969" y="0"/>
                  </a:moveTo>
                  <a:lnTo>
                    <a:pt x="622252" y="0"/>
                  </a:lnTo>
                  <a:cubicBezTo>
                    <a:pt x="697899" y="0"/>
                    <a:pt x="759222" y="61323"/>
                    <a:pt x="759222" y="136969"/>
                  </a:cubicBezTo>
                  <a:lnTo>
                    <a:pt x="759222" y="1361889"/>
                  </a:lnTo>
                  <a:cubicBezTo>
                    <a:pt x="759222" y="1437536"/>
                    <a:pt x="697899" y="1498859"/>
                    <a:pt x="622252" y="1498859"/>
                  </a:cubicBezTo>
                  <a:lnTo>
                    <a:pt x="136969" y="1498859"/>
                  </a:lnTo>
                  <a:cubicBezTo>
                    <a:pt x="100643" y="1498859"/>
                    <a:pt x="65804" y="1484428"/>
                    <a:pt x="40117" y="1458741"/>
                  </a:cubicBezTo>
                  <a:cubicBezTo>
                    <a:pt x="14431" y="1433055"/>
                    <a:pt x="0" y="1398216"/>
                    <a:pt x="0" y="1361889"/>
                  </a:cubicBezTo>
                  <a:lnTo>
                    <a:pt x="0" y="136969"/>
                  </a:lnTo>
                  <a:cubicBezTo>
                    <a:pt x="0" y="61323"/>
                    <a:pt x="61323" y="0"/>
                    <a:pt x="136969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95275"/>
              <a:ext cx="759222" cy="1794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8"/>
                </a:lnSpc>
              </a:pPr>
              <a:r>
                <a:rPr lang="en-US" b="true" sz="3200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STEP 1:</a:t>
              </a:r>
            </a:p>
            <a:p>
              <a:pPr algn="ctr">
                <a:lnSpc>
                  <a:spcPts val="4922"/>
                </a:lnSpc>
              </a:pPr>
              <a:r>
                <a:rPr lang="en-US" sz="23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EXPECTED EFG = LOCATION EXPECTED EFG + DEFENDER ADJUSTMENT</a:t>
              </a:r>
            </a:p>
            <a:p>
              <a:pPr algn="ctr">
                <a:lnSpc>
                  <a:spcPts val="4922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726734" y="3900793"/>
            <a:ext cx="10834532" cy="5114641"/>
          </a:xfrm>
          <a:custGeom>
            <a:avLst/>
            <a:gdLst/>
            <a:ahLst/>
            <a:cxnLst/>
            <a:rect r="r" b="b" t="t" l="l"/>
            <a:pathLst>
              <a:path h="5114641" w="10834532">
                <a:moveTo>
                  <a:pt x="0" y="0"/>
                </a:moveTo>
                <a:lnTo>
                  <a:pt x="10834532" y="0"/>
                </a:lnTo>
                <a:lnTo>
                  <a:pt x="10834532" y="5114642"/>
                </a:lnTo>
                <a:lnTo>
                  <a:pt x="0" y="5114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34" t="-26724" r="-3717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335844" y="3074113"/>
            <a:ext cx="3066294" cy="5766548"/>
            <a:chOff x="0" y="0"/>
            <a:chExt cx="807584" cy="1518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7584" cy="1518762"/>
            </a:xfrm>
            <a:custGeom>
              <a:avLst/>
              <a:gdLst/>
              <a:ahLst/>
              <a:cxnLst/>
              <a:rect r="r" b="b" t="t" l="l"/>
              <a:pathLst>
                <a:path h="1518762" w="807584">
                  <a:moveTo>
                    <a:pt x="128767" y="0"/>
                  </a:moveTo>
                  <a:lnTo>
                    <a:pt x="678816" y="0"/>
                  </a:lnTo>
                  <a:cubicBezTo>
                    <a:pt x="712968" y="0"/>
                    <a:pt x="745720" y="13567"/>
                    <a:pt x="769868" y="37715"/>
                  </a:cubicBezTo>
                  <a:cubicBezTo>
                    <a:pt x="794017" y="61864"/>
                    <a:pt x="807584" y="94616"/>
                    <a:pt x="807584" y="128767"/>
                  </a:cubicBezTo>
                  <a:lnTo>
                    <a:pt x="807584" y="1389994"/>
                  </a:lnTo>
                  <a:cubicBezTo>
                    <a:pt x="807584" y="1424146"/>
                    <a:pt x="794017" y="1456898"/>
                    <a:pt x="769868" y="1481047"/>
                  </a:cubicBezTo>
                  <a:cubicBezTo>
                    <a:pt x="745720" y="1505195"/>
                    <a:pt x="712968" y="1518762"/>
                    <a:pt x="678816" y="1518762"/>
                  </a:cubicBezTo>
                  <a:lnTo>
                    <a:pt x="128767" y="1518762"/>
                  </a:lnTo>
                  <a:cubicBezTo>
                    <a:pt x="94616" y="1518762"/>
                    <a:pt x="61864" y="1505195"/>
                    <a:pt x="37715" y="1481047"/>
                  </a:cubicBezTo>
                  <a:cubicBezTo>
                    <a:pt x="13567" y="1456898"/>
                    <a:pt x="0" y="1424146"/>
                    <a:pt x="0" y="1389994"/>
                  </a:cubicBezTo>
                  <a:lnTo>
                    <a:pt x="0" y="128767"/>
                  </a:lnTo>
                  <a:cubicBezTo>
                    <a:pt x="0" y="94616"/>
                    <a:pt x="13567" y="61864"/>
                    <a:pt x="37715" y="37715"/>
                  </a:cubicBezTo>
                  <a:cubicBezTo>
                    <a:pt x="61864" y="13567"/>
                    <a:pt x="94616" y="0"/>
                    <a:pt x="128767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95275"/>
              <a:ext cx="807584" cy="1814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8"/>
                </a:lnSpc>
              </a:pPr>
              <a:r>
                <a:rPr lang="en-US" b="true" sz="3200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STEP 3:</a:t>
              </a:r>
            </a:p>
            <a:p>
              <a:pPr algn="ctr">
                <a:lnSpc>
                  <a:spcPts val="4922"/>
                </a:lnSpc>
              </a:pPr>
              <a:r>
                <a:rPr lang="en-US" sz="23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SHOT MAKING = 100(ACTUAL EFG - EXPECTED EFG) IN %PTS</a:t>
              </a:r>
            </a:p>
            <a:p>
              <a:pPr algn="ctr">
                <a:lnSpc>
                  <a:spcPts val="492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724511" y="2918223"/>
            <a:ext cx="10611334" cy="835279"/>
            <a:chOff x="0" y="0"/>
            <a:chExt cx="2794755" cy="219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755" cy="219991"/>
            </a:xfrm>
            <a:custGeom>
              <a:avLst/>
              <a:gdLst/>
              <a:ahLst/>
              <a:cxnLst/>
              <a:rect r="r" b="b" t="t" l="l"/>
              <a:pathLst>
                <a:path h="219991" w="2794755">
                  <a:moveTo>
                    <a:pt x="37209" y="0"/>
                  </a:moveTo>
                  <a:lnTo>
                    <a:pt x="2757545" y="0"/>
                  </a:lnTo>
                  <a:cubicBezTo>
                    <a:pt x="2778096" y="0"/>
                    <a:pt x="2794755" y="16659"/>
                    <a:pt x="2794755" y="37209"/>
                  </a:cubicBezTo>
                  <a:lnTo>
                    <a:pt x="2794755" y="182782"/>
                  </a:lnTo>
                  <a:cubicBezTo>
                    <a:pt x="2794755" y="192651"/>
                    <a:pt x="2790834" y="202115"/>
                    <a:pt x="2783856" y="209093"/>
                  </a:cubicBezTo>
                  <a:cubicBezTo>
                    <a:pt x="2776878" y="216071"/>
                    <a:pt x="2767414" y="219991"/>
                    <a:pt x="2757545" y="219991"/>
                  </a:cubicBezTo>
                  <a:lnTo>
                    <a:pt x="37209" y="219991"/>
                  </a:lnTo>
                  <a:cubicBezTo>
                    <a:pt x="27341" y="219991"/>
                    <a:pt x="17876" y="216071"/>
                    <a:pt x="10898" y="209093"/>
                  </a:cubicBezTo>
                  <a:cubicBezTo>
                    <a:pt x="3920" y="202115"/>
                    <a:pt x="0" y="192651"/>
                    <a:pt x="0" y="182782"/>
                  </a:cubicBezTo>
                  <a:lnTo>
                    <a:pt x="0" y="37209"/>
                  </a:lnTo>
                  <a:cubicBezTo>
                    <a:pt x="0" y="27341"/>
                    <a:pt x="3920" y="17876"/>
                    <a:pt x="10898" y="10898"/>
                  </a:cubicBezTo>
                  <a:cubicBezTo>
                    <a:pt x="17876" y="3920"/>
                    <a:pt x="27341" y="0"/>
                    <a:pt x="37209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95275"/>
              <a:ext cx="2794755" cy="515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8"/>
                </a:lnSpc>
              </a:pPr>
              <a:r>
                <a:rPr lang="en-US" b="true" sz="3200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STEP 2: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34405" y="587568"/>
            <a:ext cx="15419189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  <a:r>
              <a:rPr lang="en-US" sz="9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</a:t>
            </a:r>
            <a:r>
              <a:rPr lang="en-US" sz="9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OFFENSE CHANGED ACROSS ERAS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54342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118613" y="4068857"/>
            <a:ext cx="1237320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114.8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7236" y="7285390"/>
            <a:ext cx="1283736" cy="64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105.6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57885" y="3200443"/>
            <a:ext cx="12199360" cy="5175464"/>
          </a:xfrm>
          <a:custGeom>
            <a:avLst/>
            <a:gdLst/>
            <a:ahLst/>
            <a:cxnLst/>
            <a:rect r="r" b="b" t="t" l="l"/>
            <a:pathLst>
              <a:path h="5175464" w="12199360">
                <a:moveTo>
                  <a:pt x="0" y="0"/>
                </a:moveTo>
                <a:lnTo>
                  <a:pt x="12199360" y="0"/>
                </a:lnTo>
                <a:lnTo>
                  <a:pt x="12199360" y="5175465"/>
                </a:lnTo>
                <a:lnTo>
                  <a:pt x="0" y="5175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4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667463" y="3242637"/>
            <a:ext cx="4591837" cy="503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4"/>
              </a:lnSpc>
            </a:pPr>
          </a:p>
          <a:p>
            <a:pPr algn="ctr">
              <a:lnSpc>
                <a:spcPts val="4464"/>
              </a:lnSpc>
            </a:pPr>
            <a:r>
              <a:rPr lang="en-US" b="true" sz="3188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Season Fixed Effects</a:t>
            </a:r>
          </a:p>
          <a:p>
            <a:pPr algn="ctr">
              <a:lnSpc>
                <a:spcPts val="4464"/>
              </a:lnSpc>
            </a:pPr>
            <a:r>
              <a:rPr lang="en-US" sz="3188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2016 &lt;-&gt; 2016</a:t>
            </a:r>
          </a:p>
          <a:p>
            <a:pPr algn="ctr">
              <a:lnSpc>
                <a:spcPts val="4464"/>
              </a:lnSpc>
            </a:pPr>
            <a:r>
              <a:rPr lang="en-US" sz="3188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2025 &lt;-&gt; 2025</a:t>
            </a:r>
          </a:p>
          <a:p>
            <a:pPr algn="l" marL="688476" indent="-344238" lvl="1">
              <a:lnSpc>
                <a:spcPts val="4464"/>
              </a:lnSpc>
              <a:buFont typeface="Arial"/>
              <a:buChar char="•"/>
            </a:pPr>
            <a:r>
              <a:rPr lang="en-US" sz="3188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Own ORtg baseline per season</a:t>
            </a:r>
          </a:p>
          <a:p>
            <a:pPr algn="l" marL="688476" indent="-344238" lvl="1">
              <a:lnSpc>
                <a:spcPts val="4464"/>
              </a:lnSpc>
              <a:buFont typeface="Arial"/>
              <a:buChar char="•"/>
            </a:pPr>
            <a:r>
              <a:rPr lang="en-US" sz="3188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Teams compared in same season</a:t>
            </a:r>
          </a:p>
          <a:p>
            <a:pPr algn="ctr">
              <a:lnSpc>
                <a:spcPts val="4464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257885" y="8375908"/>
            <a:ext cx="12199360" cy="835279"/>
            <a:chOff x="0" y="0"/>
            <a:chExt cx="3213000" cy="219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13000" cy="219991"/>
            </a:xfrm>
            <a:custGeom>
              <a:avLst/>
              <a:gdLst/>
              <a:ahLst/>
              <a:cxnLst/>
              <a:rect r="r" b="b" t="t" l="l"/>
              <a:pathLst>
                <a:path h="219991" w="3213000">
                  <a:moveTo>
                    <a:pt x="32365" y="0"/>
                  </a:moveTo>
                  <a:lnTo>
                    <a:pt x="3180635" y="0"/>
                  </a:lnTo>
                  <a:cubicBezTo>
                    <a:pt x="3198510" y="0"/>
                    <a:pt x="3213000" y="14491"/>
                    <a:pt x="3213000" y="32365"/>
                  </a:cubicBezTo>
                  <a:lnTo>
                    <a:pt x="3213000" y="187626"/>
                  </a:lnTo>
                  <a:cubicBezTo>
                    <a:pt x="3213000" y="205501"/>
                    <a:pt x="3198510" y="219991"/>
                    <a:pt x="3180635" y="219991"/>
                  </a:cubicBezTo>
                  <a:lnTo>
                    <a:pt x="32365" y="219991"/>
                  </a:lnTo>
                  <a:cubicBezTo>
                    <a:pt x="14491" y="219991"/>
                    <a:pt x="0" y="205501"/>
                    <a:pt x="0" y="187626"/>
                  </a:cubicBezTo>
                  <a:lnTo>
                    <a:pt x="0" y="32365"/>
                  </a:lnTo>
                  <a:cubicBezTo>
                    <a:pt x="0" y="14491"/>
                    <a:pt x="14491" y="0"/>
                    <a:pt x="32365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95275"/>
              <a:ext cx="3213000" cy="515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48"/>
                </a:lnSpc>
              </a:pPr>
              <a:r>
                <a:rPr lang="en-US" sz="32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2015-2016 SEASON TO 2025-2026 SEASON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01426" y="7056155"/>
            <a:ext cx="90770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105.6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55933" y="5015613"/>
            <a:ext cx="83522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114.8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4397" y="4391436"/>
            <a:ext cx="289143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+9.2 O-rating pts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REGRESSION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7088" y="4741537"/>
            <a:ext cx="7772674" cy="348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8"/>
              </a:lnSpc>
            </a:pPr>
            <a:r>
              <a:rPr lang="en-US" sz="2299">
                <a:solidFill>
                  <a:srgbClr val="0CC0DF"/>
                </a:solidFill>
                <a:latin typeface="Anton"/>
                <a:ea typeface="Anton"/>
                <a:cs typeface="Anton"/>
                <a:sym typeface="Anton"/>
              </a:rPr>
              <a:t>Question</a:t>
            </a:r>
            <a:r>
              <a:rPr lang="en-US" sz="2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: Which shooting skill</a:t>
            </a:r>
            <a:r>
              <a:rPr lang="en-US" sz="2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has the stronger within-season association with Offensive Rating?</a:t>
            </a:r>
          </a:p>
          <a:p>
            <a:pPr algn="ctr">
              <a:lnSpc>
                <a:spcPts val="4668"/>
              </a:lnSpc>
            </a:pPr>
            <a:r>
              <a:rPr lang="en-US" sz="2299">
                <a:solidFill>
                  <a:srgbClr val="5CE1E6"/>
                </a:solidFill>
                <a:latin typeface="Anton"/>
                <a:ea typeface="Anton"/>
                <a:cs typeface="Anton"/>
                <a:sym typeface="Anton"/>
              </a:rPr>
              <a:t>Predictors</a:t>
            </a:r>
            <a:r>
              <a:rPr lang="en-US" sz="2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: Shot Creation, Shot Making and season basline data.</a:t>
            </a:r>
          </a:p>
          <a:p>
            <a:pPr algn="ctr">
              <a:lnSpc>
                <a:spcPts val="4668"/>
              </a:lnSpc>
            </a:pPr>
            <a:r>
              <a:rPr lang="en-US" sz="2299">
                <a:solidFill>
                  <a:srgbClr val="5CE1E6"/>
                </a:solidFill>
                <a:latin typeface="Anton"/>
                <a:ea typeface="Anton"/>
                <a:cs typeface="Anton"/>
                <a:sym typeface="Anton"/>
              </a:rPr>
              <a:t>Coefficients(x_n): </a:t>
            </a:r>
            <a:r>
              <a:rPr lang="en-US" sz="22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represents strength between independent variable and O-rating</a:t>
            </a:r>
          </a:p>
          <a:p>
            <a:pPr algn="ctr">
              <a:lnSpc>
                <a:spcPts val="4668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451309" y="4919999"/>
            <a:ext cx="7807991" cy="367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5"/>
              </a:lnSpc>
            </a:pPr>
            <a:r>
              <a:rPr lang="en-US" sz="2211">
                <a:solidFill>
                  <a:srgbClr val="0CC0DF"/>
                </a:solidFill>
                <a:latin typeface="Anton"/>
                <a:ea typeface="Anton"/>
                <a:cs typeface="Anton"/>
                <a:sym typeface="Anton"/>
              </a:rPr>
              <a:t>Question</a:t>
            </a:r>
            <a:r>
              <a:rPr lang="en-US" sz="221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:</a:t>
            </a:r>
            <a:r>
              <a:rPr lang="en-US" sz="221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Does the result remain after accounting for other major offensive factors(controll)?</a:t>
            </a:r>
          </a:p>
          <a:p>
            <a:pPr algn="ctr">
              <a:lnSpc>
                <a:spcPts val="4245"/>
              </a:lnSpc>
            </a:pPr>
            <a:r>
              <a:rPr lang="en-US" sz="2211">
                <a:solidFill>
                  <a:srgbClr val="0CC0DF"/>
                </a:solidFill>
                <a:latin typeface="Anton"/>
                <a:ea typeface="Anton"/>
                <a:cs typeface="Anton"/>
                <a:sym typeface="Anton"/>
              </a:rPr>
              <a:t>Additional controls</a:t>
            </a:r>
            <a:r>
              <a:rPr lang="en-US" sz="221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: Turnover rate, offensive rebound rate and free-throw rate.</a:t>
            </a:r>
          </a:p>
          <a:p>
            <a:pPr algn="ctr">
              <a:lnSpc>
                <a:spcPts val="4245"/>
              </a:lnSpc>
            </a:pPr>
            <a:r>
              <a:rPr lang="en-US" sz="2211">
                <a:solidFill>
                  <a:srgbClr val="0CC0DF"/>
                </a:solidFill>
                <a:latin typeface="Anton"/>
                <a:ea typeface="Anton"/>
                <a:cs typeface="Anton"/>
                <a:sym typeface="Anton"/>
              </a:rPr>
              <a:t>X_0: </a:t>
            </a:r>
            <a:r>
              <a:rPr lang="en-US" sz="221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The predicted ORtg for a 2015–16 team with average Shot Creation and average Shot Making.</a:t>
            </a:r>
          </a:p>
          <a:p>
            <a:pPr algn="ctr">
              <a:lnSpc>
                <a:spcPts val="424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05382" y="2112957"/>
            <a:ext cx="2883917" cy="88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Model 1: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10325" y="2112957"/>
            <a:ext cx="3468500" cy="88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Model 2: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75540" y="3106121"/>
            <a:ext cx="8630125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</a:rPr>
              <a:t>ORtg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X₀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+ x₁Z(Creation) + x₂Z(Making) + x₃Z(TOV%) + x₄Z(ORB%) + x₅Z(FTr) + Season + 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1228" y="3106121"/>
            <a:ext cx="6954702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5757"/>
                </a:solidFill>
                <a:latin typeface="Canva Sans"/>
                <a:ea typeface="Canva Sans"/>
                <a:cs typeface="Canva Sans"/>
                <a:sym typeface="Canva Sans"/>
              </a:rPr>
              <a:t>ORtg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= X₀ + X₁Z(Creation) + X₂Z(Making) + Season + 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678057"/>
            <a:ext cx="16293681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</a:pPr>
            <a:r>
              <a:rPr lang="en-US" sz="2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*OLS model predicts intercept and coeffecients by minimizing the sum of the squared error of the residual of O-rating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759" y="3893334"/>
            <a:ext cx="9763730" cy="5711782"/>
          </a:xfrm>
          <a:custGeom>
            <a:avLst/>
            <a:gdLst/>
            <a:ahLst/>
            <a:cxnLst/>
            <a:rect r="r" b="b" t="t" l="l"/>
            <a:pathLst>
              <a:path h="5711782" w="9763730">
                <a:moveTo>
                  <a:pt x="0" y="0"/>
                </a:moveTo>
                <a:lnTo>
                  <a:pt x="9763730" y="0"/>
                </a:lnTo>
                <a:lnTo>
                  <a:pt x="9763730" y="5711782"/>
                </a:lnTo>
                <a:lnTo>
                  <a:pt x="0" y="5711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6863"/>
            <a:ext cx="16293681" cy="31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SHOT MAKING HAS THE STRONGER ASSOCIATION IN M1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58064" y="4642889"/>
            <a:ext cx="770368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3131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Shot Making’s coefficient was about 3.1× larger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47082" y="6570007"/>
            <a:ext cx="7514668" cy="170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0"/>
              </a:lnSpc>
              <a:spcBef>
                <a:spcPct val="0"/>
              </a:spcBef>
            </a:pPr>
            <a:r>
              <a:rPr lang="en-US" sz="2428">
                <a:solidFill>
                  <a:srgbClr val="FEFEFE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A one-standard-deviation increase in Shot Making was associated with a 0.597-standard-deviation increase in Offensive Rating, </a:t>
            </a:r>
            <a:r>
              <a:rPr lang="en-US" b="true" sz="2428">
                <a:solidFill>
                  <a:srgbClr val="FEFEFE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holding Shot Creation and season constant.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577983"/>
            <a:ext cx="8757479" cy="6039012"/>
          </a:xfrm>
          <a:custGeom>
            <a:avLst/>
            <a:gdLst/>
            <a:ahLst/>
            <a:cxnLst/>
            <a:rect r="r" b="b" t="t" l="l"/>
            <a:pathLst>
              <a:path h="6039012" w="8757479">
                <a:moveTo>
                  <a:pt x="0" y="0"/>
                </a:moveTo>
                <a:lnTo>
                  <a:pt x="8757479" y="0"/>
                </a:lnTo>
                <a:lnTo>
                  <a:pt x="8757479" y="6039011"/>
                </a:lnTo>
                <a:lnTo>
                  <a:pt x="0" y="6039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45855" y="221369"/>
            <a:ext cx="16513445" cy="290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  <a:spcBef>
                <a:spcPct val="0"/>
              </a:spcBef>
            </a:pPr>
            <a:r>
              <a:rPr lang="en-US" sz="860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SHOT MAKING REMAINS STRONGEST AFTER CONTROLS IN M2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96490" y="3511308"/>
            <a:ext cx="7212969" cy="127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sz="3681" b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Shot Making</a:t>
            </a:r>
            <a:r>
              <a:rPr lang="en-US" sz="368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 Avenir Next Arabic"/>
                <a:ea typeface=" Avenir Next Arabic"/>
                <a:cs typeface=" Avenir Next Arabic"/>
                <a:sym typeface=" Avenir Next Arabic"/>
              </a:rPr>
              <a:t>:</a:t>
            </a:r>
            <a:r>
              <a:rPr lang="en-US" sz="3681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0.597 to 0.596 after</a:t>
            </a:r>
            <a:r>
              <a:rPr lang="en-US" sz="3681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controlling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96490" y="5076825"/>
            <a:ext cx="7212969" cy="1272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sz="3681" b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Shot Creation</a:t>
            </a:r>
            <a:r>
              <a:rPr lang="en-US" sz="368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 Avenir Next Arabic"/>
                <a:ea typeface=" Avenir Next Arabic"/>
                <a:cs typeface=" Avenir Next Arabic"/>
                <a:sym typeface=" Avenir Next Arabic"/>
              </a:rPr>
              <a:t>:</a:t>
            </a:r>
            <a:r>
              <a:rPr lang="en-US" sz="3681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0.195 to 0.316 after</a:t>
            </a:r>
            <a:r>
              <a:rPr lang="en-US" sz="3681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controlling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96490" y="6644922"/>
            <a:ext cx="7212969" cy="2563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4"/>
              </a:lnSpc>
            </a:pPr>
            <a:r>
              <a:rPr lang="en-US" sz="3681" b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WHY?</a:t>
            </a:r>
            <a:r>
              <a:rPr lang="en-US" sz="3681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 Avenir Next Arabic"/>
                <a:ea typeface=" Avenir Next Arabic"/>
                <a:cs typeface=" Avenir Next Arabic"/>
                <a:sym typeface=" Avenir Next Arabic"/>
              </a:rPr>
              <a:t>:</a:t>
            </a:r>
            <a:r>
              <a:rPr lang="en-US" sz="3681">
                <a:solidFill>
                  <a:srgbClr val="FFFFFF"/>
                </a:solidFill>
                <a:latin typeface=" Avenir Next Arabic"/>
                <a:ea typeface=" Avenir Next Arabic"/>
                <a:cs typeface=" Avenir Next Arabic"/>
                <a:sym typeface=" Avenir Next Arabic"/>
              </a:rPr>
              <a:t> M2 exposes control variables separately to shot creation while M1 mixed factors to create score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6046" y="4520466"/>
            <a:ext cx="8268246" cy="4523474"/>
          </a:xfrm>
          <a:custGeom>
            <a:avLst/>
            <a:gdLst/>
            <a:ahLst/>
            <a:cxnLst/>
            <a:rect r="r" b="b" t="t" l="l"/>
            <a:pathLst>
              <a:path h="4523474" w="8268246">
                <a:moveTo>
                  <a:pt x="0" y="0"/>
                </a:moveTo>
                <a:lnTo>
                  <a:pt x="8268246" y="0"/>
                </a:lnTo>
                <a:lnTo>
                  <a:pt x="8268246" y="4523474"/>
                </a:lnTo>
                <a:lnTo>
                  <a:pt x="0" y="4523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8" t="-27109" r="-921" b="-9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55199" y="4520466"/>
            <a:ext cx="7867314" cy="4524471"/>
          </a:xfrm>
          <a:custGeom>
            <a:avLst/>
            <a:gdLst/>
            <a:ahLst/>
            <a:cxnLst/>
            <a:rect r="r" b="b" t="t" l="l"/>
            <a:pathLst>
              <a:path h="4524471" w="7867314">
                <a:moveTo>
                  <a:pt x="0" y="0"/>
                </a:moveTo>
                <a:lnTo>
                  <a:pt x="7867314" y="0"/>
                </a:lnTo>
                <a:lnTo>
                  <a:pt x="7867314" y="4524472"/>
                </a:lnTo>
                <a:lnTo>
                  <a:pt x="0" y="4524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529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9378" y="589640"/>
            <a:ext cx="17841892" cy="31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  <a:spcBef>
                <a:spcPct val="0"/>
              </a:spcBef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WHO BEAT OFFENSIVE EXPECTATIONS</a:t>
            </a:r>
          </a:p>
          <a:p>
            <a:pPr algn="ctr">
              <a:lnSpc>
                <a:spcPts val="1255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69378" y="2784911"/>
            <a:ext cx="8748094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3999">
                <a:solidFill>
                  <a:srgbClr val="FEFEFE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Top Shot Making Team Seasons(%pts)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85220" y="2917258"/>
            <a:ext cx="7966041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3999">
                <a:solidFill>
                  <a:srgbClr val="FEFEFE"/>
                </a:solidFill>
                <a:latin typeface=" Avenir Next Arabic Bold"/>
                <a:ea typeface=" Avenir Next Arabic Bold"/>
                <a:cs typeface=" Avenir Next Arabic Bold"/>
                <a:sym typeface=" Avenir Next Arabic Bold"/>
              </a:rPr>
              <a:t>Team Shot Creation + Shot Making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69378" y="589640"/>
            <a:ext cx="17841892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  <a:spcBef>
                <a:spcPct val="0"/>
              </a:spcBef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Dashboard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155246" y="4206055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4" y="0"/>
                </a:lnTo>
                <a:lnTo>
                  <a:pt x="6782224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45432" y="-367430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77683" y="-2726024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4" y="0"/>
                </a:lnTo>
                <a:lnTo>
                  <a:pt x="6782224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064" y="2289080"/>
            <a:ext cx="4270969" cy="5694625"/>
          </a:xfrm>
          <a:custGeom>
            <a:avLst/>
            <a:gdLst/>
            <a:ahLst/>
            <a:cxnLst/>
            <a:rect r="r" b="b" t="t" l="l"/>
            <a:pathLst>
              <a:path h="5694625" w="4270969">
                <a:moveTo>
                  <a:pt x="0" y="0"/>
                </a:moveTo>
                <a:lnTo>
                  <a:pt x="4270970" y="0"/>
                </a:lnTo>
                <a:lnTo>
                  <a:pt x="4270970" y="5694626"/>
                </a:lnTo>
                <a:lnTo>
                  <a:pt x="0" y="569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10522" y="2289080"/>
            <a:ext cx="4270969" cy="5694625"/>
          </a:xfrm>
          <a:custGeom>
            <a:avLst/>
            <a:gdLst/>
            <a:ahLst/>
            <a:cxnLst/>
            <a:rect r="r" b="b" t="t" l="l"/>
            <a:pathLst>
              <a:path h="5694625" w="4270969">
                <a:moveTo>
                  <a:pt x="0" y="0"/>
                </a:moveTo>
                <a:lnTo>
                  <a:pt x="4270969" y="0"/>
                </a:lnTo>
                <a:lnTo>
                  <a:pt x="4270969" y="5694626"/>
                </a:lnTo>
                <a:lnTo>
                  <a:pt x="0" y="569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95966" y="2289080"/>
            <a:ext cx="4270969" cy="5694625"/>
          </a:xfrm>
          <a:custGeom>
            <a:avLst/>
            <a:gdLst/>
            <a:ahLst/>
            <a:cxnLst/>
            <a:rect r="r" b="b" t="t" l="l"/>
            <a:pathLst>
              <a:path h="5694625" w="4270969">
                <a:moveTo>
                  <a:pt x="0" y="0"/>
                </a:moveTo>
                <a:lnTo>
                  <a:pt x="4270970" y="0"/>
                </a:lnTo>
                <a:lnTo>
                  <a:pt x="4270970" y="5694626"/>
                </a:lnTo>
                <a:lnTo>
                  <a:pt x="0" y="569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491291" y="2923300"/>
            <a:ext cx="2898156" cy="3409595"/>
          </a:xfrm>
          <a:custGeom>
            <a:avLst/>
            <a:gdLst/>
            <a:ahLst/>
            <a:cxnLst/>
            <a:rect r="r" b="b" t="t" l="l"/>
            <a:pathLst>
              <a:path h="3409595" w="2898156">
                <a:moveTo>
                  <a:pt x="0" y="0"/>
                </a:moveTo>
                <a:lnTo>
                  <a:pt x="2898156" y="0"/>
                </a:lnTo>
                <a:lnTo>
                  <a:pt x="2898156" y="3409595"/>
                </a:lnTo>
                <a:lnTo>
                  <a:pt x="0" y="3409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50745" y="3142371"/>
            <a:ext cx="3190524" cy="3190524"/>
          </a:xfrm>
          <a:custGeom>
            <a:avLst/>
            <a:gdLst/>
            <a:ahLst/>
            <a:cxnLst/>
            <a:rect r="r" b="b" t="t" l="l"/>
            <a:pathLst>
              <a:path h="3190524" w="3190524">
                <a:moveTo>
                  <a:pt x="0" y="0"/>
                </a:moveTo>
                <a:lnTo>
                  <a:pt x="3190524" y="0"/>
                </a:lnTo>
                <a:lnTo>
                  <a:pt x="3190524" y="3190524"/>
                </a:lnTo>
                <a:lnTo>
                  <a:pt x="0" y="31905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0200" y="3398443"/>
            <a:ext cx="3472698" cy="2678381"/>
          </a:xfrm>
          <a:custGeom>
            <a:avLst/>
            <a:gdLst/>
            <a:ahLst/>
            <a:cxnLst/>
            <a:rect r="r" b="b" t="t" l="l"/>
            <a:pathLst>
              <a:path h="2678381" w="3472698">
                <a:moveTo>
                  <a:pt x="0" y="0"/>
                </a:moveTo>
                <a:lnTo>
                  <a:pt x="3472698" y="0"/>
                </a:lnTo>
                <a:lnTo>
                  <a:pt x="3472698" y="2678381"/>
                </a:lnTo>
                <a:lnTo>
                  <a:pt x="0" y="26783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244" t="-6982" r="-12524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810897" y="6178505"/>
            <a:ext cx="1142225" cy="1142225"/>
          </a:xfrm>
          <a:custGeom>
            <a:avLst/>
            <a:gdLst/>
            <a:ahLst/>
            <a:cxnLst/>
            <a:rect r="r" b="b" t="t" l="l"/>
            <a:pathLst>
              <a:path h="1142225" w="1142225">
                <a:moveTo>
                  <a:pt x="0" y="0"/>
                </a:moveTo>
                <a:lnTo>
                  <a:pt x="1142225" y="0"/>
                </a:lnTo>
                <a:lnTo>
                  <a:pt x="1142225" y="1142225"/>
                </a:lnTo>
                <a:lnTo>
                  <a:pt x="0" y="11422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10898" y="6446274"/>
            <a:ext cx="1206744" cy="1206744"/>
          </a:xfrm>
          <a:custGeom>
            <a:avLst/>
            <a:gdLst/>
            <a:ahLst/>
            <a:cxnLst/>
            <a:rect r="r" b="b" t="t" l="l"/>
            <a:pathLst>
              <a:path h="1206744" w="1206744">
                <a:moveTo>
                  <a:pt x="0" y="0"/>
                </a:moveTo>
                <a:lnTo>
                  <a:pt x="1206745" y="0"/>
                </a:lnTo>
                <a:lnTo>
                  <a:pt x="1206745" y="1206744"/>
                </a:lnTo>
                <a:lnTo>
                  <a:pt x="0" y="120674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226042" y="6454844"/>
            <a:ext cx="1282594" cy="1282594"/>
          </a:xfrm>
          <a:custGeom>
            <a:avLst/>
            <a:gdLst/>
            <a:ahLst/>
            <a:cxnLst/>
            <a:rect r="r" b="b" t="t" l="l"/>
            <a:pathLst>
              <a:path h="1282594" w="1282594">
                <a:moveTo>
                  <a:pt x="0" y="0"/>
                </a:moveTo>
                <a:lnTo>
                  <a:pt x="1282595" y="0"/>
                </a:lnTo>
                <a:lnTo>
                  <a:pt x="1282595" y="1282595"/>
                </a:lnTo>
                <a:lnTo>
                  <a:pt x="0" y="12825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23054" y="516035"/>
            <a:ext cx="17841892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  <a:spcBef>
                <a:spcPct val="0"/>
              </a:spcBef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EXPERT INTEREST AND VALIDATION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44730" y="6463065"/>
            <a:ext cx="1730307" cy="118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B0707"/>
                </a:solidFill>
                <a:latin typeface="Abril Fatface"/>
                <a:ea typeface="Abril Fatface"/>
                <a:cs typeface="Abril Fatface"/>
                <a:sym typeface="Abril Fatface"/>
              </a:rPr>
              <a:t>Tyler Skinner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77421" y="6416569"/>
            <a:ext cx="2133478" cy="118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1F1918"/>
                </a:solidFill>
                <a:latin typeface="Abril Fatface"/>
                <a:ea typeface="Abril Fatface"/>
                <a:cs typeface="Abril Fatface"/>
                <a:sym typeface="Abril Fatface"/>
              </a:rPr>
              <a:t>Luke Bornn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111830"/>
            <a:ext cx="3239233" cy="10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1F1918"/>
                </a:solidFill>
                <a:latin typeface="Abril Fatface"/>
                <a:ea typeface="Abril Fatface"/>
                <a:cs typeface="Abril Fatface"/>
                <a:sym typeface="Abril Fatface"/>
              </a:rPr>
              <a:t>Sameer Deshpande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3054" y="8031331"/>
            <a:ext cx="6089243" cy="158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2100">
                <a:solidFill>
                  <a:srgbClr val="FEFEFE"/>
                </a:solidFill>
                <a:latin typeface="Lilita One"/>
                <a:ea typeface="Lilita One"/>
                <a:cs typeface="Lilita One"/>
                <a:sym typeface="Lilita One"/>
              </a:rPr>
              <a:t>statistician whose research develops advanced Bayesian methods to analyze sports, with influential work in basketball, baseball, and football analytics.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76209" y="7908865"/>
            <a:ext cx="5135581" cy="187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2"/>
              </a:lnSpc>
            </a:pPr>
            <a:r>
              <a:rPr lang="en-US" sz="21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Former Harvard Assistand Professor of Statistics, VP of Strategy and Analytics for the Kings. Specialzies in player tracking data and ML in soccer and basketball.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2991" y="7927915"/>
            <a:ext cx="5694756" cy="136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1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Assistant Professor of Sport Management at the University of South Carolina. Specializes in sports analytics, sports economics, and leadership.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3054" y="662075"/>
            <a:ext cx="17841892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  <a:spcBef>
                <a:spcPct val="0"/>
              </a:spcBef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832800"/>
            <a:ext cx="16412994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1. Custom metric: Shot Creation is an equal-weight index, n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ot an official NBA metric.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2. Aggregated data: location and defender distance are separate team-season tables, not shot-level data.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3. Mechanical relationship: Shot Making uses eFG%, which is directly connected to points per possession.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4. Observational design: coefficients show associations, not causal effects.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5. Unobserved team differences: season fixed effects included, team fixed effects are not.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75015" y="542925"/>
            <a:ext cx="9201150" cy="9201150"/>
          </a:xfrm>
          <a:custGeom>
            <a:avLst/>
            <a:gdLst/>
            <a:ahLst/>
            <a:cxnLst/>
            <a:rect r="r" b="b" t="t" l="l"/>
            <a:pathLst>
              <a:path h="9201150" w="9201150">
                <a:moveTo>
                  <a:pt x="0" y="0"/>
                </a:moveTo>
                <a:lnTo>
                  <a:pt x="9201150" y="0"/>
                </a:lnTo>
                <a:lnTo>
                  <a:pt x="9201150" y="9201150"/>
                </a:lnTo>
                <a:lnTo>
                  <a:pt x="0" y="9201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578375">
            <a:off x="8323700" y="-4291982"/>
            <a:ext cx="15959856" cy="8583964"/>
          </a:xfrm>
          <a:custGeom>
            <a:avLst/>
            <a:gdLst/>
            <a:ahLst/>
            <a:cxnLst/>
            <a:rect r="r" b="b" t="t" l="l"/>
            <a:pathLst>
              <a:path h="8583964" w="15959856">
                <a:moveTo>
                  <a:pt x="0" y="0"/>
                </a:moveTo>
                <a:lnTo>
                  <a:pt x="15959857" y="0"/>
                </a:lnTo>
                <a:lnTo>
                  <a:pt x="15959857" y="8583964"/>
                </a:lnTo>
                <a:lnTo>
                  <a:pt x="0" y="8583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84372" y="2406116"/>
            <a:ext cx="14319257" cy="5189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51"/>
              </a:lnSpc>
            </a:pPr>
            <a:r>
              <a:rPr lang="en-US" sz="148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 FOR LISTENING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366517">
            <a:off x="-1768901" y="4979430"/>
            <a:ext cx="12307770" cy="7200900"/>
          </a:xfrm>
          <a:custGeom>
            <a:avLst/>
            <a:gdLst/>
            <a:ahLst/>
            <a:cxnLst/>
            <a:rect r="r" b="b" t="t" l="l"/>
            <a:pathLst>
              <a:path h="7200900" w="12307770">
                <a:moveTo>
                  <a:pt x="0" y="0"/>
                </a:moveTo>
                <a:lnTo>
                  <a:pt x="12307770" y="0"/>
                </a:lnTo>
                <a:lnTo>
                  <a:pt x="1230777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3054" y="409575"/>
            <a:ext cx="17841892" cy="31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  <a:spcBef>
                <a:spcPct val="0"/>
              </a:spcBef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HE RESULT IS STABLE ACROSS MODEL CHOICES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02144" y="8035907"/>
            <a:ext cx="5916372" cy="170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  <a:r>
              <a:rPr lang="en-US" sz="9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 OF 4</a:t>
            </a:r>
            <a:r>
              <a:rPr lang="en-US" b="true" sz="9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4468378"/>
            <a:ext cx="7731035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Shot Making had the larger coefficient in 38 of 40 sensitivity specifications.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8037" y="7477760"/>
            <a:ext cx="871596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Location-only expectation: 19 of 20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Location + defender expectation: 19 of 20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All specifications: 38 of 40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72054" y="-1709461"/>
            <a:ext cx="6782224" cy="6782224"/>
          </a:xfrm>
          <a:custGeom>
            <a:avLst/>
            <a:gdLst/>
            <a:ahLst/>
            <a:cxnLst/>
            <a:rect r="r" b="b" t="t" l="l"/>
            <a:pathLst>
              <a:path h="6782224" w="6782224">
                <a:moveTo>
                  <a:pt x="0" y="0"/>
                </a:moveTo>
                <a:lnTo>
                  <a:pt x="6782223" y="0"/>
                </a:lnTo>
                <a:lnTo>
                  <a:pt x="6782223" y="6782224"/>
                </a:lnTo>
                <a:lnTo>
                  <a:pt x="0" y="678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60" y="188587"/>
            <a:ext cx="16293681" cy="154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3054" y="409575"/>
            <a:ext cx="17841892" cy="31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55"/>
              </a:lnSpc>
              <a:spcBef>
                <a:spcPct val="0"/>
              </a:spcBef>
            </a:pP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APPENDIX: </a:t>
            </a:r>
            <a:r>
              <a:rPr lang="en-US" sz="9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COMPLETE FORMULA REFERENCE 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65728" y="3701618"/>
            <a:ext cx="5647464" cy="2942590"/>
            <a:chOff x="0" y="0"/>
            <a:chExt cx="1487398" cy="7750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87398" cy="775003"/>
            </a:xfrm>
            <a:custGeom>
              <a:avLst/>
              <a:gdLst/>
              <a:ahLst/>
              <a:cxnLst/>
              <a:rect r="r" b="b" t="t" l="l"/>
              <a:pathLst>
                <a:path h="775003" w="1487398">
                  <a:moveTo>
                    <a:pt x="69914" y="0"/>
                  </a:moveTo>
                  <a:lnTo>
                    <a:pt x="1417484" y="0"/>
                  </a:lnTo>
                  <a:cubicBezTo>
                    <a:pt x="1436026" y="0"/>
                    <a:pt x="1453809" y="7366"/>
                    <a:pt x="1466921" y="20477"/>
                  </a:cubicBezTo>
                  <a:cubicBezTo>
                    <a:pt x="1480032" y="33589"/>
                    <a:pt x="1487398" y="51372"/>
                    <a:pt x="1487398" y="69914"/>
                  </a:cubicBezTo>
                  <a:lnTo>
                    <a:pt x="1487398" y="705089"/>
                  </a:lnTo>
                  <a:cubicBezTo>
                    <a:pt x="1487398" y="723631"/>
                    <a:pt x="1480032" y="741414"/>
                    <a:pt x="1466921" y="754526"/>
                  </a:cubicBezTo>
                  <a:cubicBezTo>
                    <a:pt x="1453809" y="767637"/>
                    <a:pt x="1436026" y="775003"/>
                    <a:pt x="1417484" y="775003"/>
                  </a:cubicBezTo>
                  <a:lnTo>
                    <a:pt x="69914" y="775003"/>
                  </a:lnTo>
                  <a:cubicBezTo>
                    <a:pt x="51372" y="775003"/>
                    <a:pt x="33589" y="767637"/>
                    <a:pt x="20477" y="754526"/>
                  </a:cubicBezTo>
                  <a:cubicBezTo>
                    <a:pt x="7366" y="741414"/>
                    <a:pt x="0" y="723631"/>
                    <a:pt x="0" y="705089"/>
                  </a:cubicBezTo>
                  <a:lnTo>
                    <a:pt x="0" y="69914"/>
                  </a:lnTo>
                  <a:cubicBezTo>
                    <a:pt x="0" y="51372"/>
                    <a:pt x="7366" y="33589"/>
                    <a:pt x="20477" y="20477"/>
                  </a:cubicBezTo>
                  <a:cubicBezTo>
                    <a:pt x="33589" y="7366"/>
                    <a:pt x="51372" y="0"/>
                    <a:pt x="69914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38125"/>
              <a:ext cx="1487398" cy="1013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63"/>
                </a:lnSpc>
              </a:pPr>
              <a:r>
                <a:rPr lang="en-US" sz="2599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Shot Location &amp; Defender Rates</a:t>
              </a:r>
            </a:p>
            <a:p>
              <a:pPr algn="l" marL="302262" indent="-151131" lvl="1">
                <a:lnSpc>
                  <a:spcPts val="2996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Rim Rate = Restricted-Area FGA / Total FGA</a:t>
              </a:r>
            </a:p>
            <a:p>
              <a:pPr algn="l" marL="302262" indent="-151131" lvl="1">
                <a:lnSpc>
                  <a:spcPts val="2996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Corner3 Rate = Corner3 FGA / Total FGA</a:t>
              </a:r>
            </a:p>
            <a:p>
              <a:pPr algn="l" marL="302262" indent="-151131" lvl="1">
                <a:lnSpc>
                  <a:spcPts val="2996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Midrange Rate = Midrange FGA / Total FGA</a:t>
              </a:r>
            </a:p>
            <a:p>
              <a:pPr algn="l" marL="302262" indent="-151131" lvl="1">
                <a:lnSpc>
                  <a:spcPts val="2996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Wide Open Rate = WideOpen FGA / Defender Total</a:t>
              </a:r>
            </a:p>
            <a:p>
              <a:pPr algn="l" marL="302262" indent="-151131" lvl="1">
                <a:lnSpc>
                  <a:spcPts val="2996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Contested Rate = (VeryTight FGA + Tight FGA) / Defender Total</a:t>
              </a:r>
            </a:p>
            <a:p>
              <a:pPr algn="l" marL="302262" indent="-151131" lvl="1">
                <a:lnSpc>
                  <a:spcPts val="2996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BadShot Rate = (Midrange Rate + Contested Rate) /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40138" y="6796608"/>
            <a:ext cx="5673054" cy="3029779"/>
            <a:chOff x="0" y="0"/>
            <a:chExt cx="1494138" cy="797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4138" cy="797966"/>
            </a:xfrm>
            <a:custGeom>
              <a:avLst/>
              <a:gdLst/>
              <a:ahLst/>
              <a:cxnLst/>
              <a:rect r="r" b="b" t="t" l="l"/>
              <a:pathLst>
                <a:path h="797966" w="1494138">
                  <a:moveTo>
                    <a:pt x="69599" y="0"/>
                  </a:moveTo>
                  <a:lnTo>
                    <a:pt x="1424539" y="0"/>
                  </a:lnTo>
                  <a:cubicBezTo>
                    <a:pt x="1462977" y="0"/>
                    <a:pt x="1494138" y="31160"/>
                    <a:pt x="1494138" y="69599"/>
                  </a:cubicBezTo>
                  <a:lnTo>
                    <a:pt x="1494138" y="728368"/>
                  </a:lnTo>
                  <a:cubicBezTo>
                    <a:pt x="1494138" y="746826"/>
                    <a:pt x="1486805" y="764529"/>
                    <a:pt x="1473753" y="777581"/>
                  </a:cubicBezTo>
                  <a:cubicBezTo>
                    <a:pt x="1460700" y="790634"/>
                    <a:pt x="1442997" y="797966"/>
                    <a:pt x="1424539" y="797966"/>
                  </a:cubicBezTo>
                  <a:lnTo>
                    <a:pt x="69599" y="797966"/>
                  </a:lnTo>
                  <a:cubicBezTo>
                    <a:pt x="51140" y="797966"/>
                    <a:pt x="33437" y="790634"/>
                    <a:pt x="20385" y="777581"/>
                  </a:cubicBezTo>
                  <a:cubicBezTo>
                    <a:pt x="7333" y="764529"/>
                    <a:pt x="0" y="746826"/>
                    <a:pt x="0" y="728368"/>
                  </a:cubicBezTo>
                  <a:lnTo>
                    <a:pt x="0" y="69599"/>
                  </a:lnTo>
                  <a:cubicBezTo>
                    <a:pt x="0" y="51140"/>
                    <a:pt x="7333" y="33437"/>
                    <a:pt x="20385" y="20385"/>
                  </a:cubicBezTo>
                  <a:cubicBezTo>
                    <a:pt x="33437" y="7333"/>
                    <a:pt x="51140" y="0"/>
                    <a:pt x="69599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38125"/>
              <a:ext cx="1494138" cy="1036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63"/>
                </a:lnSpc>
              </a:pPr>
              <a:r>
                <a:rPr lang="en-US" sz="2599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Z-score &amp; Shot Creation Score</a:t>
              </a:r>
            </a:p>
            <a:p>
              <a:pPr algn="l" marL="323852" indent="-161926" lvl="1">
                <a:lnSpc>
                  <a:spcPts val="321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Z(x) = (x − mean(x)) / SD(x)</a:t>
              </a:r>
            </a:p>
            <a:p>
              <a:pPr algn="l" marL="323852" indent="-161926" lvl="1">
                <a:lnSpc>
                  <a:spcPts val="3210"/>
                </a:lnSpc>
                <a:buFont typeface="Arial"/>
                <a:buChar char="•"/>
              </a:pPr>
              <a:r>
                <a:rPr lang="en-US" sz="15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Shot Creation Score = Z(Rim Rate) + Z(Corner 3 Rate) + Z(Wide-Open Rate) − Z(Bad-Shot Rate)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07473" y="6234773"/>
            <a:ext cx="5673054" cy="3591613"/>
            <a:chOff x="0" y="0"/>
            <a:chExt cx="1494138" cy="94593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4138" cy="945939"/>
            </a:xfrm>
            <a:custGeom>
              <a:avLst/>
              <a:gdLst/>
              <a:ahLst/>
              <a:cxnLst/>
              <a:rect r="r" b="b" t="t" l="l"/>
              <a:pathLst>
                <a:path h="945939" w="1494138">
                  <a:moveTo>
                    <a:pt x="69599" y="0"/>
                  </a:moveTo>
                  <a:lnTo>
                    <a:pt x="1424539" y="0"/>
                  </a:lnTo>
                  <a:cubicBezTo>
                    <a:pt x="1462977" y="0"/>
                    <a:pt x="1494138" y="31160"/>
                    <a:pt x="1494138" y="69599"/>
                  </a:cubicBezTo>
                  <a:lnTo>
                    <a:pt x="1494138" y="876340"/>
                  </a:lnTo>
                  <a:cubicBezTo>
                    <a:pt x="1494138" y="894799"/>
                    <a:pt x="1486805" y="912502"/>
                    <a:pt x="1473753" y="925554"/>
                  </a:cubicBezTo>
                  <a:cubicBezTo>
                    <a:pt x="1460700" y="938606"/>
                    <a:pt x="1442997" y="945939"/>
                    <a:pt x="1424539" y="945939"/>
                  </a:cubicBezTo>
                  <a:lnTo>
                    <a:pt x="69599" y="945939"/>
                  </a:lnTo>
                  <a:cubicBezTo>
                    <a:pt x="51140" y="945939"/>
                    <a:pt x="33437" y="938606"/>
                    <a:pt x="20385" y="925554"/>
                  </a:cubicBezTo>
                  <a:cubicBezTo>
                    <a:pt x="7333" y="912502"/>
                    <a:pt x="0" y="894799"/>
                    <a:pt x="0" y="876340"/>
                  </a:cubicBezTo>
                  <a:lnTo>
                    <a:pt x="0" y="69599"/>
                  </a:lnTo>
                  <a:cubicBezTo>
                    <a:pt x="0" y="51140"/>
                    <a:pt x="7333" y="33437"/>
                    <a:pt x="20385" y="20385"/>
                  </a:cubicBezTo>
                  <a:cubicBezTo>
                    <a:pt x="33437" y="7333"/>
                    <a:pt x="51140" y="0"/>
                    <a:pt x="69599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47650"/>
              <a:ext cx="1494138" cy="1193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1"/>
                </a:lnSpc>
              </a:pPr>
              <a:r>
                <a:rPr lang="en-US" sz="2799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League Zone eFG%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League zone eFG%(Three-Point Zones) = League zone FG% × 1.5   </a:t>
              </a:r>
            </a:p>
            <a:p>
              <a:pPr algn="l" marL="431799" indent="-215899" lvl="1">
                <a:lnSpc>
                  <a:spcPts val="4279"/>
                </a:lnSpc>
                <a:buFont typeface="Arial"/>
                <a:buChar char="•"/>
              </a:pPr>
              <a:r>
                <a:rPr lang="en-US" sz="1999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League zone eFG%(Two-Point Zones) = League zone FG%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07473" y="3701618"/>
            <a:ext cx="5673054" cy="2367168"/>
            <a:chOff x="0" y="0"/>
            <a:chExt cx="1494138" cy="6234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4138" cy="623452"/>
            </a:xfrm>
            <a:custGeom>
              <a:avLst/>
              <a:gdLst/>
              <a:ahLst/>
              <a:cxnLst/>
              <a:rect r="r" b="b" t="t" l="l"/>
              <a:pathLst>
                <a:path h="623452" w="1494138">
                  <a:moveTo>
                    <a:pt x="69599" y="0"/>
                  </a:moveTo>
                  <a:lnTo>
                    <a:pt x="1424539" y="0"/>
                  </a:lnTo>
                  <a:cubicBezTo>
                    <a:pt x="1462977" y="0"/>
                    <a:pt x="1494138" y="31160"/>
                    <a:pt x="1494138" y="69599"/>
                  </a:cubicBezTo>
                  <a:lnTo>
                    <a:pt x="1494138" y="553853"/>
                  </a:lnTo>
                  <a:cubicBezTo>
                    <a:pt x="1494138" y="572311"/>
                    <a:pt x="1486805" y="590014"/>
                    <a:pt x="1473753" y="603067"/>
                  </a:cubicBezTo>
                  <a:cubicBezTo>
                    <a:pt x="1460700" y="616119"/>
                    <a:pt x="1442997" y="623452"/>
                    <a:pt x="1424539" y="623452"/>
                  </a:cubicBezTo>
                  <a:lnTo>
                    <a:pt x="69599" y="623452"/>
                  </a:lnTo>
                  <a:cubicBezTo>
                    <a:pt x="51140" y="623452"/>
                    <a:pt x="33437" y="616119"/>
                    <a:pt x="20385" y="603067"/>
                  </a:cubicBezTo>
                  <a:cubicBezTo>
                    <a:pt x="7333" y="590014"/>
                    <a:pt x="0" y="572311"/>
                    <a:pt x="0" y="553853"/>
                  </a:cubicBezTo>
                  <a:lnTo>
                    <a:pt x="0" y="69599"/>
                  </a:lnTo>
                  <a:cubicBezTo>
                    <a:pt x="0" y="51140"/>
                    <a:pt x="7333" y="33437"/>
                    <a:pt x="20385" y="20385"/>
                  </a:cubicBezTo>
                  <a:cubicBezTo>
                    <a:pt x="33437" y="7333"/>
                    <a:pt x="51140" y="0"/>
                    <a:pt x="69599" y="0"/>
                  </a:cubicBezTo>
                  <a:close/>
                </a:path>
              </a:pathLst>
            </a:custGeom>
            <a:solidFill>
              <a:srgbClr val="869B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38125"/>
              <a:ext cx="1494138" cy="861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63"/>
                </a:lnSpc>
              </a:pPr>
              <a:r>
                <a:rPr lang="en-US" sz="2599" b="true">
                  <a:solidFill>
                    <a:srgbClr val="FFFFFF"/>
                  </a:solidFill>
                  <a:latin typeface=" Avenir Next Arabic Bold"/>
                  <a:ea typeface=" Avenir Next Arabic Bold"/>
                  <a:cs typeface=" Avenir Next Arabic Bold"/>
                  <a:sym typeface=" Avenir Next Arabic Bold"/>
                </a:rPr>
                <a:t>Location Expected eFG%</a:t>
              </a:r>
            </a:p>
            <a:p>
              <a:pPr algn="l" marL="388620" indent="-194310" lvl="1">
                <a:lnSpc>
                  <a:spcPts val="3852"/>
                </a:lnSpc>
                <a:buFont typeface="Arial"/>
                <a:buChar char="•"/>
              </a:pPr>
              <a:r>
                <a:rPr lang="en-US" sz="1800">
                  <a:solidFill>
                    <a:srgbClr val="FFFFFF"/>
                  </a:solidFill>
                  <a:latin typeface=" Avenir Next Arabic"/>
                  <a:ea typeface=" Avenir Next Arabic"/>
                  <a:cs typeface=" Avenir Next Arabic"/>
                  <a:sym typeface=" Avenir Next Arabic"/>
                </a:rPr>
                <a:t>Location Expected eFG% = Σ (team zone frequency × season league-average zone eFG%)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DAHQnPiScNM</dc:identifier>
  <dcterms:modified xsi:type="dcterms:W3CDTF">2011-08-01T06:04:30Z</dcterms:modified>
  <cp:revision>1</cp:revision>
  <dc:title>Moneyball Final Presentation</dc:title>
</cp:coreProperties>
</file>